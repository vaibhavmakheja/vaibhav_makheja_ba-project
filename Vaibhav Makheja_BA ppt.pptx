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4"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4E11F-C127-2779-6D4B-3ECCC8BFF15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FC6BBE1-EFE5-D1C2-6C9B-60977133B4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1255E29-A2D6-DCDA-6E40-2DB08036B585}"/>
              </a:ext>
            </a:extLst>
          </p:cNvPr>
          <p:cNvSpPr>
            <a:spLocks noGrp="1"/>
          </p:cNvSpPr>
          <p:nvPr>
            <p:ph type="dt" sz="half" idx="10"/>
          </p:nvPr>
        </p:nvSpPr>
        <p:spPr/>
        <p:txBody>
          <a:bodyPr/>
          <a:lstStyle/>
          <a:p>
            <a:fld id="{31C0BD7B-0719-4481-A04A-60CA21D32DB9}" type="datetimeFigureOut">
              <a:rPr lang="en-US" smtClean="0"/>
              <a:t>1/13/2025</a:t>
            </a:fld>
            <a:endParaRPr lang="en-US"/>
          </a:p>
        </p:txBody>
      </p:sp>
      <p:sp>
        <p:nvSpPr>
          <p:cNvPr id="5" name="Footer Placeholder 4">
            <a:extLst>
              <a:ext uri="{FF2B5EF4-FFF2-40B4-BE49-F238E27FC236}">
                <a16:creationId xmlns:a16="http://schemas.microsoft.com/office/drawing/2014/main" id="{A66F93FA-A21F-D75A-88C7-1CEF474AFB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9A04E1-88D7-0994-767B-4513210CC09D}"/>
              </a:ext>
            </a:extLst>
          </p:cNvPr>
          <p:cNvSpPr>
            <a:spLocks noGrp="1"/>
          </p:cNvSpPr>
          <p:nvPr>
            <p:ph type="sldNum" sz="quarter" idx="12"/>
          </p:nvPr>
        </p:nvSpPr>
        <p:spPr/>
        <p:txBody>
          <a:bodyPr/>
          <a:lstStyle/>
          <a:p>
            <a:fld id="{1B21FE8E-6502-4E08-8614-7BB7F9C9390F}" type="slidenum">
              <a:rPr lang="en-US" smtClean="0"/>
              <a:t>‹#›</a:t>
            </a:fld>
            <a:endParaRPr lang="en-US"/>
          </a:p>
        </p:txBody>
      </p:sp>
    </p:spTree>
    <p:extLst>
      <p:ext uri="{BB962C8B-B14F-4D97-AF65-F5344CB8AC3E}">
        <p14:creationId xmlns:p14="http://schemas.microsoft.com/office/powerpoint/2010/main" val="1880170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86CB5-C200-DCA9-180D-B51E3C93EE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6DB990-0415-B7C2-35EB-6F01FA32A93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061459-09B4-B244-1C9F-A805142DA42E}"/>
              </a:ext>
            </a:extLst>
          </p:cNvPr>
          <p:cNvSpPr>
            <a:spLocks noGrp="1"/>
          </p:cNvSpPr>
          <p:nvPr>
            <p:ph type="dt" sz="half" idx="10"/>
          </p:nvPr>
        </p:nvSpPr>
        <p:spPr/>
        <p:txBody>
          <a:bodyPr/>
          <a:lstStyle/>
          <a:p>
            <a:fld id="{31C0BD7B-0719-4481-A04A-60CA21D32DB9}" type="datetimeFigureOut">
              <a:rPr lang="en-US" smtClean="0"/>
              <a:t>1/13/2025</a:t>
            </a:fld>
            <a:endParaRPr lang="en-US"/>
          </a:p>
        </p:txBody>
      </p:sp>
      <p:sp>
        <p:nvSpPr>
          <p:cNvPr id="5" name="Footer Placeholder 4">
            <a:extLst>
              <a:ext uri="{FF2B5EF4-FFF2-40B4-BE49-F238E27FC236}">
                <a16:creationId xmlns:a16="http://schemas.microsoft.com/office/drawing/2014/main" id="{2C8FBE8D-4035-F245-0B43-18C668CF07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F8D02-D7A5-BE10-A89C-F909733DC8EC}"/>
              </a:ext>
            </a:extLst>
          </p:cNvPr>
          <p:cNvSpPr>
            <a:spLocks noGrp="1"/>
          </p:cNvSpPr>
          <p:nvPr>
            <p:ph type="sldNum" sz="quarter" idx="12"/>
          </p:nvPr>
        </p:nvSpPr>
        <p:spPr/>
        <p:txBody>
          <a:bodyPr/>
          <a:lstStyle/>
          <a:p>
            <a:fld id="{1B21FE8E-6502-4E08-8614-7BB7F9C9390F}" type="slidenum">
              <a:rPr lang="en-US" smtClean="0"/>
              <a:t>‹#›</a:t>
            </a:fld>
            <a:endParaRPr lang="en-US"/>
          </a:p>
        </p:txBody>
      </p:sp>
    </p:spTree>
    <p:extLst>
      <p:ext uri="{BB962C8B-B14F-4D97-AF65-F5344CB8AC3E}">
        <p14:creationId xmlns:p14="http://schemas.microsoft.com/office/powerpoint/2010/main" val="692917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F6576-393C-2847-A4D6-BE24289865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1CA062D-184C-6F10-AD5C-AB486047225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57D4A53-7A43-CDD4-87B9-D06FC5FB5F3D}"/>
              </a:ext>
            </a:extLst>
          </p:cNvPr>
          <p:cNvSpPr>
            <a:spLocks noGrp="1"/>
          </p:cNvSpPr>
          <p:nvPr>
            <p:ph type="dt" sz="half" idx="10"/>
          </p:nvPr>
        </p:nvSpPr>
        <p:spPr/>
        <p:txBody>
          <a:bodyPr/>
          <a:lstStyle/>
          <a:p>
            <a:fld id="{31C0BD7B-0719-4481-A04A-60CA21D32DB9}" type="datetimeFigureOut">
              <a:rPr lang="en-US" smtClean="0"/>
              <a:t>1/13/2025</a:t>
            </a:fld>
            <a:endParaRPr lang="en-US"/>
          </a:p>
        </p:txBody>
      </p:sp>
      <p:sp>
        <p:nvSpPr>
          <p:cNvPr id="5" name="Footer Placeholder 4">
            <a:extLst>
              <a:ext uri="{FF2B5EF4-FFF2-40B4-BE49-F238E27FC236}">
                <a16:creationId xmlns:a16="http://schemas.microsoft.com/office/drawing/2014/main" id="{56680E0D-8169-A97B-4E58-1409DD6706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7C7B57-DAAF-40B9-F5F5-77B514A924FE}"/>
              </a:ext>
            </a:extLst>
          </p:cNvPr>
          <p:cNvSpPr>
            <a:spLocks noGrp="1"/>
          </p:cNvSpPr>
          <p:nvPr>
            <p:ph type="sldNum" sz="quarter" idx="12"/>
          </p:nvPr>
        </p:nvSpPr>
        <p:spPr/>
        <p:txBody>
          <a:bodyPr/>
          <a:lstStyle/>
          <a:p>
            <a:fld id="{1B21FE8E-6502-4E08-8614-7BB7F9C9390F}" type="slidenum">
              <a:rPr lang="en-US" smtClean="0"/>
              <a:t>‹#›</a:t>
            </a:fld>
            <a:endParaRPr lang="en-US"/>
          </a:p>
        </p:txBody>
      </p:sp>
    </p:spTree>
    <p:extLst>
      <p:ext uri="{BB962C8B-B14F-4D97-AF65-F5344CB8AC3E}">
        <p14:creationId xmlns:p14="http://schemas.microsoft.com/office/powerpoint/2010/main" val="35643994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B6340-F16F-E839-C4C5-488E68ECD7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C1903E5-33D1-6BCB-0B0F-AD22B5B159B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73B55E5-703C-05A7-543A-2A9D31B7FE2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520FCAD-E607-9EC6-53D7-1AB25BAE2682}"/>
              </a:ext>
            </a:extLst>
          </p:cNvPr>
          <p:cNvSpPr>
            <a:spLocks noGrp="1"/>
          </p:cNvSpPr>
          <p:nvPr>
            <p:ph type="dt" sz="half" idx="10"/>
          </p:nvPr>
        </p:nvSpPr>
        <p:spPr/>
        <p:txBody>
          <a:bodyPr/>
          <a:lstStyle/>
          <a:p>
            <a:fld id="{31C0BD7B-0719-4481-A04A-60CA21D32DB9}" type="datetimeFigureOut">
              <a:rPr lang="en-US" smtClean="0"/>
              <a:t>1/13/2025</a:t>
            </a:fld>
            <a:endParaRPr lang="en-US"/>
          </a:p>
        </p:txBody>
      </p:sp>
      <p:sp>
        <p:nvSpPr>
          <p:cNvPr id="6" name="Footer Placeholder 5">
            <a:extLst>
              <a:ext uri="{FF2B5EF4-FFF2-40B4-BE49-F238E27FC236}">
                <a16:creationId xmlns:a16="http://schemas.microsoft.com/office/drawing/2014/main" id="{DD7DB224-4A69-70C5-7DA6-9E9F056EEE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402EFA-27C3-D613-97FA-6CA36797D33B}"/>
              </a:ext>
            </a:extLst>
          </p:cNvPr>
          <p:cNvSpPr>
            <a:spLocks noGrp="1"/>
          </p:cNvSpPr>
          <p:nvPr>
            <p:ph type="sldNum" sz="quarter" idx="12"/>
          </p:nvPr>
        </p:nvSpPr>
        <p:spPr/>
        <p:txBody>
          <a:bodyPr/>
          <a:lstStyle/>
          <a:p>
            <a:fld id="{1B21FE8E-6502-4E08-8614-7BB7F9C9390F}" type="slidenum">
              <a:rPr lang="en-US" smtClean="0"/>
              <a:t>‹#›</a:t>
            </a:fld>
            <a:endParaRPr lang="en-US"/>
          </a:p>
        </p:txBody>
      </p:sp>
    </p:spTree>
    <p:extLst>
      <p:ext uri="{BB962C8B-B14F-4D97-AF65-F5344CB8AC3E}">
        <p14:creationId xmlns:p14="http://schemas.microsoft.com/office/powerpoint/2010/main" val="24285235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400CD-15C0-5FCC-9CFA-F65091B3996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008E196-9ECA-6B06-0442-9816C22E29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689A9A-1FFD-BA07-A8BC-B24D9C5803A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2FEAB6D-ADBF-E0ED-6F7C-CB66E92CC58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DB4AC16-6863-4EC7-66CB-9721187CE5D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6D263C3-697A-D7CB-039C-3A8978ACE1DB}"/>
              </a:ext>
            </a:extLst>
          </p:cNvPr>
          <p:cNvSpPr>
            <a:spLocks noGrp="1"/>
          </p:cNvSpPr>
          <p:nvPr>
            <p:ph type="dt" sz="half" idx="10"/>
          </p:nvPr>
        </p:nvSpPr>
        <p:spPr/>
        <p:txBody>
          <a:bodyPr/>
          <a:lstStyle/>
          <a:p>
            <a:fld id="{31C0BD7B-0719-4481-A04A-60CA21D32DB9}" type="datetimeFigureOut">
              <a:rPr lang="en-US" smtClean="0"/>
              <a:t>1/13/2025</a:t>
            </a:fld>
            <a:endParaRPr lang="en-US"/>
          </a:p>
        </p:txBody>
      </p:sp>
      <p:sp>
        <p:nvSpPr>
          <p:cNvPr id="8" name="Footer Placeholder 7">
            <a:extLst>
              <a:ext uri="{FF2B5EF4-FFF2-40B4-BE49-F238E27FC236}">
                <a16:creationId xmlns:a16="http://schemas.microsoft.com/office/drawing/2014/main" id="{AD7D3BF6-AF10-0960-B4F2-0BEEF6E4DD3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3084237-7329-4EB2-CDA1-F9DA27414C7B}"/>
              </a:ext>
            </a:extLst>
          </p:cNvPr>
          <p:cNvSpPr>
            <a:spLocks noGrp="1"/>
          </p:cNvSpPr>
          <p:nvPr>
            <p:ph type="sldNum" sz="quarter" idx="12"/>
          </p:nvPr>
        </p:nvSpPr>
        <p:spPr/>
        <p:txBody>
          <a:bodyPr/>
          <a:lstStyle/>
          <a:p>
            <a:fld id="{1B21FE8E-6502-4E08-8614-7BB7F9C9390F}" type="slidenum">
              <a:rPr lang="en-US" smtClean="0"/>
              <a:t>‹#›</a:t>
            </a:fld>
            <a:endParaRPr lang="en-US"/>
          </a:p>
        </p:txBody>
      </p:sp>
    </p:spTree>
    <p:extLst>
      <p:ext uri="{BB962C8B-B14F-4D97-AF65-F5344CB8AC3E}">
        <p14:creationId xmlns:p14="http://schemas.microsoft.com/office/powerpoint/2010/main" val="27176932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A50A5-7BFC-6376-D515-B8DD62A4510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3932115-0494-8EB6-9DF8-5DF5CF265100}"/>
              </a:ext>
            </a:extLst>
          </p:cNvPr>
          <p:cNvSpPr>
            <a:spLocks noGrp="1"/>
          </p:cNvSpPr>
          <p:nvPr>
            <p:ph type="dt" sz="half" idx="10"/>
          </p:nvPr>
        </p:nvSpPr>
        <p:spPr/>
        <p:txBody>
          <a:bodyPr/>
          <a:lstStyle/>
          <a:p>
            <a:fld id="{31C0BD7B-0719-4481-A04A-60CA21D32DB9}" type="datetimeFigureOut">
              <a:rPr lang="en-US" smtClean="0"/>
              <a:t>1/13/2025</a:t>
            </a:fld>
            <a:endParaRPr lang="en-US"/>
          </a:p>
        </p:txBody>
      </p:sp>
      <p:sp>
        <p:nvSpPr>
          <p:cNvPr id="4" name="Footer Placeholder 3">
            <a:extLst>
              <a:ext uri="{FF2B5EF4-FFF2-40B4-BE49-F238E27FC236}">
                <a16:creationId xmlns:a16="http://schemas.microsoft.com/office/drawing/2014/main" id="{48356525-60A3-19FF-6954-E42686B3EEA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0B4AB26-0378-867E-57AC-563D5C66E277}"/>
              </a:ext>
            </a:extLst>
          </p:cNvPr>
          <p:cNvSpPr>
            <a:spLocks noGrp="1"/>
          </p:cNvSpPr>
          <p:nvPr>
            <p:ph type="sldNum" sz="quarter" idx="12"/>
          </p:nvPr>
        </p:nvSpPr>
        <p:spPr/>
        <p:txBody>
          <a:bodyPr/>
          <a:lstStyle/>
          <a:p>
            <a:fld id="{1B21FE8E-6502-4E08-8614-7BB7F9C9390F}" type="slidenum">
              <a:rPr lang="en-US" smtClean="0"/>
              <a:t>‹#›</a:t>
            </a:fld>
            <a:endParaRPr lang="en-US"/>
          </a:p>
        </p:txBody>
      </p:sp>
    </p:spTree>
    <p:extLst>
      <p:ext uri="{BB962C8B-B14F-4D97-AF65-F5344CB8AC3E}">
        <p14:creationId xmlns:p14="http://schemas.microsoft.com/office/powerpoint/2010/main" val="27684475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1FD2DB-81BE-8863-59E2-AD3E1A2494F9}"/>
              </a:ext>
            </a:extLst>
          </p:cNvPr>
          <p:cNvSpPr>
            <a:spLocks noGrp="1"/>
          </p:cNvSpPr>
          <p:nvPr>
            <p:ph type="dt" sz="half" idx="10"/>
          </p:nvPr>
        </p:nvSpPr>
        <p:spPr/>
        <p:txBody>
          <a:bodyPr/>
          <a:lstStyle/>
          <a:p>
            <a:fld id="{31C0BD7B-0719-4481-A04A-60CA21D32DB9}" type="datetimeFigureOut">
              <a:rPr lang="en-US" smtClean="0"/>
              <a:t>1/13/2025</a:t>
            </a:fld>
            <a:endParaRPr lang="en-US"/>
          </a:p>
        </p:txBody>
      </p:sp>
      <p:sp>
        <p:nvSpPr>
          <p:cNvPr id="3" name="Footer Placeholder 2">
            <a:extLst>
              <a:ext uri="{FF2B5EF4-FFF2-40B4-BE49-F238E27FC236}">
                <a16:creationId xmlns:a16="http://schemas.microsoft.com/office/drawing/2014/main" id="{DF2ABF48-8495-68DB-5DCD-450E9775865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31D87EB-3EB9-6BB7-CDBD-75765AD83464}"/>
              </a:ext>
            </a:extLst>
          </p:cNvPr>
          <p:cNvSpPr>
            <a:spLocks noGrp="1"/>
          </p:cNvSpPr>
          <p:nvPr>
            <p:ph type="sldNum" sz="quarter" idx="12"/>
          </p:nvPr>
        </p:nvSpPr>
        <p:spPr/>
        <p:txBody>
          <a:bodyPr/>
          <a:lstStyle/>
          <a:p>
            <a:fld id="{1B21FE8E-6502-4E08-8614-7BB7F9C9390F}" type="slidenum">
              <a:rPr lang="en-US" smtClean="0"/>
              <a:t>‹#›</a:t>
            </a:fld>
            <a:endParaRPr lang="en-US"/>
          </a:p>
        </p:txBody>
      </p:sp>
    </p:spTree>
    <p:extLst>
      <p:ext uri="{BB962C8B-B14F-4D97-AF65-F5344CB8AC3E}">
        <p14:creationId xmlns:p14="http://schemas.microsoft.com/office/powerpoint/2010/main" val="3205523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F1557-EBDE-AF0B-F6B4-3A10F82902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E1508DB-5BE4-EA43-7FD2-9EBC1F9A4C9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0F75DCB-9B79-9BFF-88D2-ECFB2265FE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DBDCCC-8842-43EC-A87D-0E116C21A645}"/>
              </a:ext>
            </a:extLst>
          </p:cNvPr>
          <p:cNvSpPr>
            <a:spLocks noGrp="1"/>
          </p:cNvSpPr>
          <p:nvPr>
            <p:ph type="dt" sz="half" idx="10"/>
          </p:nvPr>
        </p:nvSpPr>
        <p:spPr/>
        <p:txBody>
          <a:bodyPr/>
          <a:lstStyle/>
          <a:p>
            <a:fld id="{31C0BD7B-0719-4481-A04A-60CA21D32DB9}" type="datetimeFigureOut">
              <a:rPr lang="en-US" smtClean="0"/>
              <a:t>1/13/2025</a:t>
            </a:fld>
            <a:endParaRPr lang="en-US"/>
          </a:p>
        </p:txBody>
      </p:sp>
      <p:sp>
        <p:nvSpPr>
          <p:cNvPr id="6" name="Footer Placeholder 5">
            <a:extLst>
              <a:ext uri="{FF2B5EF4-FFF2-40B4-BE49-F238E27FC236}">
                <a16:creationId xmlns:a16="http://schemas.microsoft.com/office/drawing/2014/main" id="{E6323CA6-8BBE-9895-8547-B7A437CC4A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38B042-6B88-4F8B-49D1-5D3C01A6BE9D}"/>
              </a:ext>
            </a:extLst>
          </p:cNvPr>
          <p:cNvSpPr>
            <a:spLocks noGrp="1"/>
          </p:cNvSpPr>
          <p:nvPr>
            <p:ph type="sldNum" sz="quarter" idx="12"/>
          </p:nvPr>
        </p:nvSpPr>
        <p:spPr/>
        <p:txBody>
          <a:bodyPr/>
          <a:lstStyle/>
          <a:p>
            <a:fld id="{1B21FE8E-6502-4E08-8614-7BB7F9C9390F}" type="slidenum">
              <a:rPr lang="en-US" smtClean="0"/>
              <a:t>‹#›</a:t>
            </a:fld>
            <a:endParaRPr lang="en-US"/>
          </a:p>
        </p:txBody>
      </p:sp>
    </p:spTree>
    <p:extLst>
      <p:ext uri="{BB962C8B-B14F-4D97-AF65-F5344CB8AC3E}">
        <p14:creationId xmlns:p14="http://schemas.microsoft.com/office/powerpoint/2010/main" val="3482445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C72E7-A7CA-EA1F-543D-27E1B5DB01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97314EC-4B47-499C-E0EB-FBBA8E4236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E0205F3E-A294-FDF0-76B4-F048546AB0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F7DAD8-B785-B74D-7D3C-03FB4E043D99}"/>
              </a:ext>
            </a:extLst>
          </p:cNvPr>
          <p:cNvSpPr>
            <a:spLocks noGrp="1"/>
          </p:cNvSpPr>
          <p:nvPr>
            <p:ph type="dt" sz="half" idx="10"/>
          </p:nvPr>
        </p:nvSpPr>
        <p:spPr/>
        <p:txBody>
          <a:bodyPr/>
          <a:lstStyle/>
          <a:p>
            <a:fld id="{31C0BD7B-0719-4481-A04A-60CA21D32DB9}" type="datetimeFigureOut">
              <a:rPr lang="en-US" smtClean="0"/>
              <a:t>1/13/2025</a:t>
            </a:fld>
            <a:endParaRPr lang="en-US"/>
          </a:p>
        </p:txBody>
      </p:sp>
      <p:sp>
        <p:nvSpPr>
          <p:cNvPr id="6" name="Footer Placeholder 5">
            <a:extLst>
              <a:ext uri="{FF2B5EF4-FFF2-40B4-BE49-F238E27FC236}">
                <a16:creationId xmlns:a16="http://schemas.microsoft.com/office/drawing/2014/main" id="{FDB9D421-6523-C325-7D12-F60FFD1071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A516EE-AD98-10B9-5C8D-E5D2B847C3FB}"/>
              </a:ext>
            </a:extLst>
          </p:cNvPr>
          <p:cNvSpPr>
            <a:spLocks noGrp="1"/>
          </p:cNvSpPr>
          <p:nvPr>
            <p:ph type="sldNum" sz="quarter" idx="12"/>
          </p:nvPr>
        </p:nvSpPr>
        <p:spPr/>
        <p:txBody>
          <a:bodyPr/>
          <a:lstStyle/>
          <a:p>
            <a:fld id="{1B21FE8E-6502-4E08-8614-7BB7F9C9390F}" type="slidenum">
              <a:rPr lang="en-US" smtClean="0"/>
              <a:t>‹#›</a:t>
            </a:fld>
            <a:endParaRPr lang="en-US"/>
          </a:p>
        </p:txBody>
      </p:sp>
    </p:spTree>
    <p:extLst>
      <p:ext uri="{BB962C8B-B14F-4D97-AF65-F5344CB8AC3E}">
        <p14:creationId xmlns:p14="http://schemas.microsoft.com/office/powerpoint/2010/main" val="5126047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A353C-8BEB-7E5D-CBAD-F7D473FBD6D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57A7195-5B06-3670-BA8B-89C3DE8C062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6F12E5-2ED4-8B13-0D1A-F7AD39A12545}"/>
              </a:ext>
            </a:extLst>
          </p:cNvPr>
          <p:cNvSpPr>
            <a:spLocks noGrp="1"/>
          </p:cNvSpPr>
          <p:nvPr>
            <p:ph type="dt" sz="half" idx="10"/>
          </p:nvPr>
        </p:nvSpPr>
        <p:spPr/>
        <p:txBody>
          <a:bodyPr/>
          <a:lstStyle/>
          <a:p>
            <a:fld id="{31C0BD7B-0719-4481-A04A-60CA21D32DB9}" type="datetimeFigureOut">
              <a:rPr lang="en-US" smtClean="0"/>
              <a:t>1/13/2025</a:t>
            </a:fld>
            <a:endParaRPr lang="en-US"/>
          </a:p>
        </p:txBody>
      </p:sp>
      <p:sp>
        <p:nvSpPr>
          <p:cNvPr id="5" name="Footer Placeholder 4">
            <a:extLst>
              <a:ext uri="{FF2B5EF4-FFF2-40B4-BE49-F238E27FC236}">
                <a16:creationId xmlns:a16="http://schemas.microsoft.com/office/drawing/2014/main" id="{94CF3EA6-75C2-5C64-B79E-1F7D2E90BB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175512-53FD-94FD-5E4F-C56571CA6BD3}"/>
              </a:ext>
            </a:extLst>
          </p:cNvPr>
          <p:cNvSpPr>
            <a:spLocks noGrp="1"/>
          </p:cNvSpPr>
          <p:nvPr>
            <p:ph type="sldNum" sz="quarter" idx="12"/>
          </p:nvPr>
        </p:nvSpPr>
        <p:spPr/>
        <p:txBody>
          <a:bodyPr/>
          <a:lstStyle/>
          <a:p>
            <a:fld id="{1B21FE8E-6502-4E08-8614-7BB7F9C9390F}" type="slidenum">
              <a:rPr lang="en-US" smtClean="0"/>
              <a:t>‹#›</a:t>
            </a:fld>
            <a:endParaRPr lang="en-US"/>
          </a:p>
        </p:txBody>
      </p:sp>
    </p:spTree>
    <p:extLst>
      <p:ext uri="{BB962C8B-B14F-4D97-AF65-F5344CB8AC3E}">
        <p14:creationId xmlns:p14="http://schemas.microsoft.com/office/powerpoint/2010/main" val="320895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05BD0F-8355-A2D8-E7E3-44EB96FBF16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2A85BCD-EB0E-6846-32F0-912889D885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F580DE-6950-57D6-27CF-064266CB0D56}"/>
              </a:ext>
            </a:extLst>
          </p:cNvPr>
          <p:cNvSpPr>
            <a:spLocks noGrp="1"/>
          </p:cNvSpPr>
          <p:nvPr>
            <p:ph type="dt" sz="half" idx="10"/>
          </p:nvPr>
        </p:nvSpPr>
        <p:spPr/>
        <p:txBody>
          <a:bodyPr/>
          <a:lstStyle/>
          <a:p>
            <a:fld id="{31C0BD7B-0719-4481-A04A-60CA21D32DB9}" type="datetimeFigureOut">
              <a:rPr lang="en-US" smtClean="0"/>
              <a:t>1/13/2025</a:t>
            </a:fld>
            <a:endParaRPr lang="en-US"/>
          </a:p>
        </p:txBody>
      </p:sp>
      <p:sp>
        <p:nvSpPr>
          <p:cNvPr id="5" name="Footer Placeholder 4">
            <a:extLst>
              <a:ext uri="{FF2B5EF4-FFF2-40B4-BE49-F238E27FC236}">
                <a16:creationId xmlns:a16="http://schemas.microsoft.com/office/drawing/2014/main" id="{248222AD-BF8F-DC85-ADD9-63DBC7C35F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4FC759-C5F2-B62B-10D8-975541229CE9}"/>
              </a:ext>
            </a:extLst>
          </p:cNvPr>
          <p:cNvSpPr>
            <a:spLocks noGrp="1"/>
          </p:cNvSpPr>
          <p:nvPr>
            <p:ph type="sldNum" sz="quarter" idx="12"/>
          </p:nvPr>
        </p:nvSpPr>
        <p:spPr/>
        <p:txBody>
          <a:bodyPr/>
          <a:lstStyle/>
          <a:p>
            <a:fld id="{1B21FE8E-6502-4E08-8614-7BB7F9C9390F}" type="slidenum">
              <a:rPr lang="en-US" smtClean="0"/>
              <a:t>‹#›</a:t>
            </a:fld>
            <a:endParaRPr lang="en-US"/>
          </a:p>
        </p:txBody>
      </p:sp>
    </p:spTree>
    <p:extLst>
      <p:ext uri="{BB962C8B-B14F-4D97-AF65-F5344CB8AC3E}">
        <p14:creationId xmlns:p14="http://schemas.microsoft.com/office/powerpoint/2010/main" val="1039063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E51D28-70AC-33CF-EA89-A5433588AD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B843D9E-92E1-23C0-1A45-66E8EC17D8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4BA8E4-478A-B143-EA70-EE06CEBA31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1C0BD7B-0719-4481-A04A-60CA21D32DB9}" type="datetimeFigureOut">
              <a:rPr lang="en-US" smtClean="0"/>
              <a:t>1/13/2025</a:t>
            </a:fld>
            <a:endParaRPr lang="en-US"/>
          </a:p>
        </p:txBody>
      </p:sp>
      <p:sp>
        <p:nvSpPr>
          <p:cNvPr id="5" name="Footer Placeholder 4">
            <a:extLst>
              <a:ext uri="{FF2B5EF4-FFF2-40B4-BE49-F238E27FC236}">
                <a16:creationId xmlns:a16="http://schemas.microsoft.com/office/drawing/2014/main" id="{79860366-B168-93B1-BA22-981BD4031A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D95B532-9E36-21FB-365B-ED76E0EB64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B21FE8E-6502-4E08-8614-7BB7F9C9390F}" type="slidenum">
              <a:rPr lang="en-US" smtClean="0"/>
              <a:t>‹#›</a:t>
            </a:fld>
            <a:endParaRPr lang="en-US"/>
          </a:p>
        </p:txBody>
      </p:sp>
    </p:spTree>
    <p:extLst>
      <p:ext uri="{BB962C8B-B14F-4D97-AF65-F5344CB8AC3E}">
        <p14:creationId xmlns:p14="http://schemas.microsoft.com/office/powerpoint/2010/main" val="40403337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88254-06CE-C655-AA1C-66A8DDF60DCF}"/>
              </a:ext>
            </a:extLst>
          </p:cNvPr>
          <p:cNvSpPr>
            <a:spLocks noGrp="1"/>
          </p:cNvSpPr>
          <p:nvPr>
            <p:ph type="ctrTitle"/>
          </p:nvPr>
        </p:nvSpPr>
        <p:spPr>
          <a:xfrm>
            <a:off x="1524000" y="1122362"/>
            <a:ext cx="9144000" cy="3494607"/>
          </a:xfrm>
        </p:spPr>
        <p:txBody>
          <a:bodyPr>
            <a:noAutofit/>
          </a:bodyPr>
          <a:lstStyle/>
          <a:p>
            <a:pPr>
              <a:lnSpc>
                <a:spcPct val="150000"/>
              </a:lnSpc>
            </a:pPr>
            <a:r>
              <a:rPr lang="en-US" sz="3600" b="1" dirty="0">
                <a:latin typeface="Times New Roman" panose="02020603050405020304" pitchFamily="18" charset="0"/>
                <a:cs typeface="Times New Roman" panose="02020603050405020304" pitchFamily="18" charset="0"/>
              </a:rPr>
              <a:t>Vaibhav Makheja</a:t>
            </a:r>
            <a:br>
              <a:rPr lang="en-US" sz="36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DA_14</a:t>
            </a:r>
            <a:br>
              <a:rPr lang="en-US" sz="36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BA Project</a:t>
            </a:r>
            <a:br>
              <a:rPr lang="en-US" sz="36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Project Domain: Travel Booking System</a:t>
            </a:r>
          </a:p>
        </p:txBody>
      </p:sp>
      <p:sp>
        <p:nvSpPr>
          <p:cNvPr id="3" name="Subtitle 2">
            <a:extLst>
              <a:ext uri="{FF2B5EF4-FFF2-40B4-BE49-F238E27FC236}">
                <a16:creationId xmlns:a16="http://schemas.microsoft.com/office/drawing/2014/main" id="{29CF2A58-F155-D0A3-B851-1EA6FD9C8D7C}"/>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955051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9F6E1-8AAF-84FB-A289-1AE51055A467}"/>
              </a:ext>
            </a:extLst>
          </p:cNvPr>
          <p:cNvSpPr>
            <a:spLocks noGrp="1"/>
          </p:cNvSpPr>
          <p:nvPr>
            <p:ph type="title"/>
          </p:nvPr>
        </p:nvSpPr>
        <p:spPr>
          <a:xfrm>
            <a:off x="838200" y="1"/>
            <a:ext cx="10515600" cy="734517"/>
          </a:xfrm>
        </p:spPr>
        <p:txBody>
          <a:bodyPr>
            <a:normAutofit/>
          </a:bodyPr>
          <a:lstStyle/>
          <a:p>
            <a:r>
              <a:rPr lang="en-US" sz="3600" dirty="0"/>
              <a:t>What is Business Analyst (BA)</a:t>
            </a:r>
          </a:p>
        </p:txBody>
      </p:sp>
      <p:sp>
        <p:nvSpPr>
          <p:cNvPr id="3" name="Content Placeholder 2">
            <a:extLst>
              <a:ext uri="{FF2B5EF4-FFF2-40B4-BE49-F238E27FC236}">
                <a16:creationId xmlns:a16="http://schemas.microsoft.com/office/drawing/2014/main" id="{3B763B63-84F2-7DEB-6FD0-3E3F8E9B7A6F}"/>
              </a:ext>
            </a:extLst>
          </p:cNvPr>
          <p:cNvSpPr>
            <a:spLocks noGrp="1"/>
          </p:cNvSpPr>
          <p:nvPr>
            <p:ph idx="1"/>
          </p:nvPr>
        </p:nvSpPr>
        <p:spPr>
          <a:xfrm>
            <a:off x="838200" y="899410"/>
            <a:ext cx="10515600" cy="5958590"/>
          </a:xfrm>
        </p:spPr>
        <p:txBody>
          <a:bodyPr>
            <a:normAutofit/>
          </a:bodyPr>
          <a:lstStyle/>
          <a:p>
            <a:r>
              <a:rPr lang="en-US" sz="2000" b="1" dirty="0">
                <a:latin typeface="Times New Roman" panose="02020603050405020304" pitchFamily="18" charset="0"/>
                <a:cs typeface="Times New Roman" panose="02020603050405020304" pitchFamily="18" charset="0"/>
              </a:rPr>
              <a:t>Business Analyst</a:t>
            </a:r>
            <a:r>
              <a:rPr lang="en-US" sz="2000" dirty="0">
                <a:latin typeface="Times New Roman" panose="02020603050405020304" pitchFamily="18" charset="0"/>
                <a:cs typeface="Times New Roman" panose="02020603050405020304" pitchFamily="18" charset="0"/>
              </a:rPr>
              <a:t> has been defined as "a disciplined approach for introducing change to an organization”.</a:t>
            </a:r>
          </a:p>
          <a:p>
            <a:r>
              <a:rPr lang="en-US" sz="2000" dirty="0">
                <a:latin typeface="Times New Roman" panose="02020603050405020304" pitchFamily="18" charset="0"/>
                <a:cs typeface="Times New Roman" panose="02020603050405020304" pitchFamily="18" charset="0"/>
              </a:rPr>
              <a:t>A Business analyst (BA) is a person who processes, interprets and documents business processes, products, services and software through analysis of data.</a:t>
            </a:r>
          </a:p>
          <a:p>
            <a:r>
              <a:rPr lang="en-US" sz="2000" dirty="0">
                <a:latin typeface="Times New Roman" panose="02020603050405020304" pitchFamily="18" charset="0"/>
                <a:cs typeface="Times New Roman" panose="02020603050405020304" pitchFamily="18" charset="0"/>
              </a:rPr>
              <a:t>The role of a business analyst is to ensure business efficiency increases through their knowledge of both IT and business function.</a:t>
            </a:r>
          </a:p>
          <a:p>
            <a:r>
              <a:rPr lang="en-US" sz="2000" dirty="0">
                <a:latin typeface="Times New Roman" panose="02020603050405020304" pitchFamily="18" charset="0"/>
                <a:cs typeface="Times New Roman" panose="02020603050405020304" pitchFamily="18" charset="0"/>
              </a:rPr>
              <a:t>Some tasks of a business analyst include creating detailed business analysis, budgeting and forecasting, business strategizing, planning and monitoring, variance analysis, pricing, reporting and defining business requirements for stakeholders.</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Roles of a BA:</a:t>
            </a:r>
          </a:p>
          <a:p>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A business analyst's job description tends to include "creating detailed business analysis, outlining problems, opportunities and solutions for a business, budgeting and forecasting, planning and monitoring, variance and analysis, pricing, reporting, and defining business requirements and reporting back to stakeholders, More specifically, business analysts are required to use the data which is gathered for the purpose of analysis and interpret greater meaning for the business.</a:t>
            </a:r>
          </a:p>
          <a:p>
            <a:endParaRPr lang="en-US" sz="2000" dirty="0"/>
          </a:p>
        </p:txBody>
      </p:sp>
    </p:spTree>
    <p:extLst>
      <p:ext uri="{BB962C8B-B14F-4D97-AF65-F5344CB8AC3E}">
        <p14:creationId xmlns:p14="http://schemas.microsoft.com/office/powerpoint/2010/main" val="8231321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B2F76-B920-F5FA-2EFD-62F7D724954E}"/>
              </a:ext>
            </a:extLst>
          </p:cNvPr>
          <p:cNvSpPr>
            <a:spLocks noGrp="1"/>
          </p:cNvSpPr>
          <p:nvPr>
            <p:ph type="title"/>
          </p:nvPr>
        </p:nvSpPr>
        <p:spPr/>
        <p:txBody>
          <a:bodyPr/>
          <a:lstStyle/>
          <a:p>
            <a:r>
              <a:rPr lang="en-US" dirty="0"/>
              <a:t>SDLC (Software Development Life Cycle)</a:t>
            </a:r>
          </a:p>
        </p:txBody>
      </p:sp>
      <p:sp>
        <p:nvSpPr>
          <p:cNvPr id="3" name="Content Placeholder 2">
            <a:extLst>
              <a:ext uri="{FF2B5EF4-FFF2-40B4-BE49-F238E27FC236}">
                <a16:creationId xmlns:a16="http://schemas.microsoft.com/office/drawing/2014/main" id="{89239183-DD4C-9798-83F5-A88D05EB8D07}"/>
              </a:ext>
            </a:extLst>
          </p:cNvPr>
          <p:cNvSpPr>
            <a:spLocks noGrp="1"/>
          </p:cNvSpPr>
          <p:nvPr>
            <p:ph idx="1"/>
          </p:nvPr>
        </p:nvSpPr>
        <p:spPr>
          <a:xfrm>
            <a:off x="838200" y="1825624"/>
            <a:ext cx="5562600" cy="5032375"/>
          </a:xfrm>
        </p:spPr>
        <p:txBody>
          <a:bodyPr>
            <a:normAutofit/>
          </a:bodyPr>
          <a:lstStyle/>
          <a:p>
            <a:r>
              <a:rPr lang="en-US" sz="2000" i="0" dirty="0">
                <a:solidFill>
                  <a:srgbClr val="273239"/>
                </a:solidFill>
                <a:effectLst/>
                <a:latin typeface="Times New Roman" panose="02020603050405020304" pitchFamily="18" charset="0"/>
                <a:cs typeface="Times New Roman" panose="02020603050405020304" pitchFamily="18" charset="0"/>
              </a:rPr>
              <a:t>Software development life cycle (SDLC) is a structured process that is used to design, develop, and test good-quality software.</a:t>
            </a:r>
          </a:p>
          <a:p>
            <a:r>
              <a:rPr lang="en-US" sz="2000" i="0" dirty="0">
                <a:solidFill>
                  <a:srgbClr val="273239"/>
                </a:solidFill>
                <a:effectLst/>
                <a:latin typeface="Times New Roman" panose="02020603050405020304" pitchFamily="18" charset="0"/>
                <a:cs typeface="Times New Roman" panose="02020603050405020304" pitchFamily="18" charset="0"/>
              </a:rPr>
              <a:t> SDLC, or software development life cycle, is a methodology that defines the entire procedure of software development step-by-step.</a:t>
            </a:r>
          </a:p>
          <a:p>
            <a:r>
              <a:rPr lang="en-US" sz="2000" i="0" dirty="0">
                <a:solidFill>
                  <a:srgbClr val="273239"/>
                </a:solidFill>
                <a:effectLst/>
                <a:latin typeface="Times New Roman" panose="02020603050405020304" pitchFamily="18" charset="0"/>
                <a:cs typeface="Times New Roman" panose="02020603050405020304" pitchFamily="18" charset="0"/>
              </a:rPr>
              <a:t> The goal of the SDLC life cycle model is to deliver high-quality, maintainable software that meets the user’s requirements. </a:t>
            </a:r>
          </a:p>
          <a:p>
            <a:r>
              <a:rPr lang="en-US" sz="2000" i="0" dirty="0">
                <a:solidFill>
                  <a:srgbClr val="273239"/>
                </a:solidFill>
                <a:effectLst/>
                <a:latin typeface="Times New Roman" panose="02020603050405020304" pitchFamily="18" charset="0"/>
                <a:cs typeface="Times New Roman" panose="02020603050405020304" pitchFamily="18" charset="0"/>
              </a:rPr>
              <a:t>SDLC in software engineering models outlines the plan for each stage so that each stage of the software development model can perform its task efficiently to deliver the software at a low cost within a given time frame that meets user’s requirements.</a:t>
            </a:r>
            <a:endParaRPr lang="en-US" sz="2000" dirty="0">
              <a:latin typeface="Times New Roman" panose="02020603050405020304" pitchFamily="18" charset="0"/>
              <a:cs typeface="Times New Roman" panose="02020603050405020304" pitchFamily="18" charset="0"/>
            </a:endParaRPr>
          </a:p>
        </p:txBody>
      </p:sp>
      <p:pic>
        <p:nvPicPr>
          <p:cNvPr id="1028" name="Picture 4" descr="Software Development Life Cycle Models and Methodologies - Mohamed Sami">
            <a:extLst>
              <a:ext uri="{FF2B5EF4-FFF2-40B4-BE49-F238E27FC236}">
                <a16:creationId xmlns:a16="http://schemas.microsoft.com/office/drawing/2014/main" id="{813BD40C-5E69-6C15-AB68-B0C30740A6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1137" y="1825625"/>
            <a:ext cx="8490117" cy="38256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05113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9488D-F13B-6E12-E071-EEB45DFC7C31}"/>
              </a:ext>
            </a:extLst>
          </p:cNvPr>
          <p:cNvSpPr>
            <a:spLocks noGrp="1"/>
          </p:cNvSpPr>
          <p:nvPr>
            <p:ph type="title"/>
          </p:nvPr>
        </p:nvSpPr>
        <p:spPr/>
        <p:txBody>
          <a:bodyPr/>
          <a:lstStyle/>
          <a:p>
            <a:r>
              <a:rPr lang="en-US" dirty="0"/>
              <a:t>Sprints in Agile Project Management</a:t>
            </a:r>
          </a:p>
        </p:txBody>
      </p:sp>
      <p:sp>
        <p:nvSpPr>
          <p:cNvPr id="3" name="Content Placeholder 2">
            <a:extLst>
              <a:ext uri="{FF2B5EF4-FFF2-40B4-BE49-F238E27FC236}">
                <a16:creationId xmlns:a16="http://schemas.microsoft.com/office/drawing/2014/main" id="{73BDEA05-D34B-8E7A-670F-F664A0FC1E96}"/>
              </a:ext>
            </a:extLst>
          </p:cNvPr>
          <p:cNvSpPr>
            <a:spLocks noGrp="1"/>
          </p:cNvSpPr>
          <p:nvPr>
            <p:ph idx="1"/>
          </p:nvPr>
        </p:nvSpPr>
        <p:spPr/>
        <p:txBody>
          <a:bodyPr>
            <a:normAutofit/>
          </a:bodyPr>
          <a:lstStyle/>
          <a:p>
            <a:r>
              <a:rPr lang="en-US" sz="2400" i="0" dirty="0">
                <a:solidFill>
                  <a:srgbClr val="091E42"/>
                </a:solidFill>
                <a:effectLst/>
                <a:latin typeface="Times New Roman" panose="02020603050405020304" pitchFamily="18" charset="0"/>
                <a:cs typeface="Times New Roman" panose="02020603050405020304" pitchFamily="18" charset="0"/>
              </a:rPr>
              <a:t>A Sprint Is A Short, Time-boxed Period When A Scrum Team Works To Complete A Set Amount Of Work. Sprints Are At The Very Heart Of Scrum And Agile Methodologies, And Getting Sprints Right Will Help Your Agile Team Ship Better Software With Fewer Heada</a:t>
            </a:r>
            <a:r>
              <a:rPr lang="en-US" sz="2400" dirty="0">
                <a:solidFill>
                  <a:srgbClr val="091E42"/>
                </a:solidFill>
                <a:latin typeface="Times New Roman" panose="02020603050405020304" pitchFamily="18" charset="0"/>
                <a:cs typeface="Times New Roman" panose="02020603050405020304" pitchFamily="18" charset="0"/>
              </a:rPr>
              <a:t>c</a:t>
            </a:r>
            <a:r>
              <a:rPr lang="en-US" sz="2400" i="0" dirty="0">
                <a:solidFill>
                  <a:srgbClr val="091E42"/>
                </a:solidFill>
                <a:effectLst/>
                <a:latin typeface="Times New Roman" panose="02020603050405020304" pitchFamily="18" charset="0"/>
                <a:cs typeface="Times New Roman" panose="02020603050405020304" pitchFamily="18" charset="0"/>
              </a:rPr>
              <a:t>hes.</a:t>
            </a:r>
          </a:p>
          <a:p>
            <a:r>
              <a:rPr lang="en-US" sz="2400" i="0" dirty="0">
                <a:solidFill>
                  <a:srgbClr val="091E42"/>
                </a:solidFill>
                <a:effectLst/>
                <a:latin typeface="Times New Roman" panose="02020603050405020304" pitchFamily="18" charset="0"/>
                <a:cs typeface="Times New Roman" panose="02020603050405020304" pitchFamily="18" charset="0"/>
              </a:rPr>
              <a:t>  Sprint In Agile Methodology Usually Has A Duration Of 1-4 Weeks.</a:t>
            </a:r>
          </a:p>
          <a:p>
            <a:r>
              <a:rPr lang="en-US" sz="2400" i="0" dirty="0">
                <a:solidFill>
                  <a:srgbClr val="3B4350"/>
                </a:solidFill>
                <a:effectLst/>
                <a:latin typeface="Times New Roman" panose="02020603050405020304" pitchFamily="18" charset="0"/>
                <a:cs typeface="Times New Roman" panose="02020603050405020304" pitchFamily="18" charset="0"/>
              </a:rPr>
              <a:t>In The Project, </a:t>
            </a:r>
            <a:r>
              <a:rPr lang="en-US" sz="2400" dirty="0">
                <a:solidFill>
                  <a:srgbClr val="3B4350"/>
                </a:solidFill>
                <a:latin typeface="Times New Roman" panose="02020603050405020304" pitchFamily="18" charset="0"/>
                <a:cs typeface="Times New Roman" panose="02020603050405020304" pitchFamily="18" charset="0"/>
              </a:rPr>
              <a:t>The Sprint Consists Of 8 Consecutive Cycles.</a:t>
            </a:r>
            <a:endParaRPr lang="en-US" sz="2400" i="0" dirty="0">
              <a:solidFill>
                <a:srgbClr val="3B4350"/>
              </a:solidFill>
              <a:effectLst/>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5522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8D814-2959-613C-826E-52932831B2A8}"/>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Project Explanation- Travel Booking System </a:t>
            </a:r>
          </a:p>
        </p:txBody>
      </p:sp>
      <p:sp>
        <p:nvSpPr>
          <p:cNvPr id="3" name="Content Placeholder 2">
            <a:extLst>
              <a:ext uri="{FF2B5EF4-FFF2-40B4-BE49-F238E27FC236}">
                <a16:creationId xmlns:a16="http://schemas.microsoft.com/office/drawing/2014/main" id="{A24303B9-CEE8-7E00-3891-58065A80B6B7}"/>
              </a:ext>
            </a:extLst>
          </p:cNvPr>
          <p:cNvSpPr>
            <a:spLocks noGrp="1"/>
          </p:cNvSpPr>
          <p:nvPr>
            <p:ph idx="1"/>
          </p:nvPr>
        </p:nvSpPr>
        <p:spPr/>
        <p:txBody>
          <a:bodyPr/>
          <a:lstStyle/>
          <a:p>
            <a:pPr>
              <a:lnSpc>
                <a:spcPct val="150000"/>
              </a:lnSpc>
            </a:pPr>
            <a:r>
              <a:rPr lang="en-US" sz="2400" dirty="0">
                <a:latin typeface="Times New Roman" panose="02020603050405020304" pitchFamily="18" charset="0"/>
                <a:cs typeface="Times New Roman" panose="02020603050405020304" pitchFamily="18" charset="0"/>
              </a:rPr>
              <a:t>This Project is about creating a User-friendly Ticket Booking platform for user to search, book and manage their travel arrangements which includes Flights, Hotels, Bus, Car rentals and many more integrated into a single software as well as Website.</a:t>
            </a:r>
          </a:p>
          <a:p>
            <a:pPr>
              <a:lnSpc>
                <a:spcPct val="150000"/>
              </a:lnSpc>
            </a:pPr>
            <a:r>
              <a:rPr lang="en-US" sz="2400" dirty="0">
                <a:latin typeface="Times New Roman" panose="02020603050405020304" pitchFamily="18" charset="0"/>
                <a:cs typeface="Times New Roman" panose="02020603050405020304" pitchFamily="18" charset="0"/>
              </a:rPr>
              <a:t>The Project ensures that the Customer can easily search and browse for Tickets including Flights, Trains, Bus, Hotels, etc.</a:t>
            </a:r>
          </a:p>
          <a:p>
            <a:pPr marL="0" indent="0">
              <a:lnSpc>
                <a:spcPct val="150000"/>
              </a:lnSpc>
              <a:buNone/>
            </a:pPr>
            <a:endParaRPr lang="en-US" sz="2400" dirty="0">
              <a:latin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9624302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171BF-9EE2-FF39-6F3E-FE28CE97FF47}"/>
              </a:ext>
            </a:extLst>
          </p:cNvPr>
          <p:cNvSpPr>
            <a:spLocks noGrp="1"/>
          </p:cNvSpPr>
          <p:nvPr>
            <p:ph type="title"/>
          </p:nvPr>
        </p:nvSpPr>
        <p:spPr>
          <a:xfrm>
            <a:off x="838200" y="365125"/>
            <a:ext cx="10515600" cy="939019"/>
          </a:xfrm>
        </p:spPr>
        <p:txBody>
          <a:bodyPr>
            <a:normAutofit fontScale="90000"/>
          </a:bodyPr>
          <a:lstStyle/>
          <a:p>
            <a:r>
              <a:rPr lang="en-US" sz="3200" b="1" dirty="0">
                <a:latin typeface="Times New Roman" panose="02020603050405020304" pitchFamily="18" charset="0"/>
                <a:cs typeface="Times New Roman" panose="02020603050405020304" pitchFamily="18" charset="0"/>
              </a:rPr>
              <a:t>Sprint 1-2:  Initialization of Project Planning and Preparation of Module</a:t>
            </a:r>
          </a:p>
        </p:txBody>
      </p:sp>
      <p:sp>
        <p:nvSpPr>
          <p:cNvPr id="3" name="Content Placeholder 2">
            <a:extLst>
              <a:ext uri="{FF2B5EF4-FFF2-40B4-BE49-F238E27FC236}">
                <a16:creationId xmlns:a16="http://schemas.microsoft.com/office/drawing/2014/main" id="{649B5F4D-C5F2-A47A-2056-C182D0EB37D5}"/>
              </a:ext>
            </a:extLst>
          </p:cNvPr>
          <p:cNvSpPr>
            <a:spLocks noGrp="1"/>
          </p:cNvSpPr>
          <p:nvPr>
            <p:ph idx="1"/>
          </p:nvPr>
        </p:nvSpPr>
        <p:spPr>
          <a:xfrm>
            <a:off x="838200" y="1558977"/>
            <a:ext cx="11201400" cy="5299023"/>
          </a:xfrm>
        </p:spPr>
        <p:txBody>
          <a:bodyPr>
            <a:normAutofit/>
          </a:bodyPr>
          <a:lstStyle/>
          <a:p>
            <a:pPr algn="just">
              <a:lnSpc>
                <a:spcPct val="150000"/>
              </a:lnSpc>
            </a:pPr>
            <a:r>
              <a:rPr lang="en-US" sz="2000" dirty="0">
                <a:latin typeface="Times New Roman" panose="02020603050405020304" pitchFamily="18" charset="0"/>
                <a:cs typeface="Times New Roman" panose="02020603050405020304" pitchFamily="18" charset="0"/>
              </a:rPr>
              <a:t>In this Sprint, the project roadmap and design plan is created</a:t>
            </a:r>
          </a:p>
          <a:p>
            <a:pPr algn="just">
              <a:lnSpc>
                <a:spcPct val="150000"/>
              </a:lnSpc>
            </a:pPr>
            <a:r>
              <a:rPr lang="en-US" sz="2000" dirty="0">
                <a:latin typeface="Times New Roman" panose="02020603050405020304" pitchFamily="18" charset="0"/>
                <a:cs typeface="Times New Roman" panose="02020603050405020304" pitchFamily="18" charset="0"/>
              </a:rPr>
              <a:t>Requirements were gathered and an initial meeting regarding the project expectations were taken from the client.</a:t>
            </a:r>
          </a:p>
          <a:p>
            <a:pPr algn="just">
              <a:lnSpc>
                <a:spcPct val="150000"/>
              </a:lnSpc>
            </a:pPr>
            <a:r>
              <a:rPr lang="en-US" sz="2000" dirty="0">
                <a:latin typeface="Times New Roman" panose="02020603050405020304" pitchFamily="18" charset="0"/>
                <a:cs typeface="Times New Roman" panose="02020603050405020304" pitchFamily="18" charset="0"/>
              </a:rPr>
              <a:t>The frontend developer creates rough design with coordinating with UX designer.</a:t>
            </a:r>
          </a:p>
          <a:p>
            <a:pPr algn="just">
              <a:lnSpc>
                <a:spcPct val="150000"/>
              </a:lnSpc>
            </a:pPr>
            <a:r>
              <a:rPr lang="en-US" sz="2000" dirty="0">
                <a:latin typeface="Times New Roman" panose="02020603050405020304" pitchFamily="18" charset="0"/>
                <a:cs typeface="Times New Roman" panose="02020603050405020304" pitchFamily="18" charset="0"/>
              </a:rPr>
              <a:t>In Sprint 2, the Framework design begins for the software. Frontend developer creates an engaging User-friendly dashboard for booking and managing ticket bookings.</a:t>
            </a:r>
          </a:p>
          <a:p>
            <a:pPr algn="just">
              <a:lnSpc>
                <a:spcPct val="150000"/>
              </a:lnSpc>
            </a:pPr>
            <a:r>
              <a:rPr lang="en-US" sz="2000" dirty="0">
                <a:latin typeface="Times New Roman" panose="02020603050405020304" pitchFamily="18" charset="0"/>
                <a:cs typeface="Times New Roman" panose="02020603050405020304" pitchFamily="18" charset="0"/>
              </a:rPr>
              <a:t>Frontend Developer creates Login API screen for faster access to the dashboard.</a:t>
            </a:r>
          </a:p>
          <a:p>
            <a:pPr algn="just">
              <a:lnSpc>
                <a:spcPct val="150000"/>
              </a:lnSpc>
            </a:pPr>
            <a:r>
              <a:rPr lang="en-US" sz="2000" dirty="0">
                <a:latin typeface="Times New Roman" panose="02020603050405020304" pitchFamily="18" charset="0"/>
                <a:cs typeface="Times New Roman" panose="02020603050405020304" pitchFamily="18" charset="0"/>
              </a:rPr>
              <a:t>Preparing the necessary documentation for the BA for analysis.</a:t>
            </a:r>
          </a:p>
          <a:p>
            <a:pPr algn="just">
              <a:lnSpc>
                <a:spcPct val="150000"/>
              </a:lnSpc>
            </a:pPr>
            <a:r>
              <a:rPr lang="en-US" sz="2000" dirty="0">
                <a:latin typeface="Times New Roman" panose="02020603050405020304" pitchFamily="18" charset="0"/>
                <a:cs typeface="Times New Roman" panose="02020603050405020304" pitchFamily="18" charset="0"/>
              </a:rPr>
              <a:t>Design User Authentication feature for the security of user logging in the software.</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3968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AE005-3F64-D413-08E9-9986A980FBA9}"/>
              </a:ext>
            </a:extLst>
          </p:cNvPr>
          <p:cNvSpPr>
            <a:spLocks noGrp="1"/>
          </p:cNvSpPr>
          <p:nvPr>
            <p:ph type="title"/>
          </p:nvPr>
        </p:nvSpPr>
        <p:spPr>
          <a:xfrm>
            <a:off x="838200" y="1"/>
            <a:ext cx="10515600" cy="1439055"/>
          </a:xfrm>
        </p:spPr>
        <p:txBody>
          <a:bodyPr>
            <a:normAutofit/>
          </a:bodyPr>
          <a:lstStyle/>
          <a:p>
            <a:pPr>
              <a:lnSpc>
                <a:spcPct val="150000"/>
              </a:lnSpc>
            </a:pPr>
            <a:r>
              <a:rPr lang="en-US" sz="3200" b="1" dirty="0">
                <a:latin typeface="Times New Roman" panose="02020603050405020304" pitchFamily="18" charset="0"/>
                <a:cs typeface="Times New Roman" panose="02020603050405020304" pitchFamily="18" charset="0"/>
              </a:rPr>
              <a:t>Sprint 3-4: Development Phase-II Begins </a:t>
            </a:r>
          </a:p>
        </p:txBody>
      </p:sp>
      <p:sp>
        <p:nvSpPr>
          <p:cNvPr id="3" name="Content Placeholder 2">
            <a:extLst>
              <a:ext uri="{FF2B5EF4-FFF2-40B4-BE49-F238E27FC236}">
                <a16:creationId xmlns:a16="http://schemas.microsoft.com/office/drawing/2014/main" id="{27A2159E-E641-8C9C-BC98-E043AAA8B611}"/>
              </a:ext>
            </a:extLst>
          </p:cNvPr>
          <p:cNvSpPr>
            <a:spLocks noGrp="1"/>
          </p:cNvSpPr>
          <p:nvPr>
            <p:ph idx="1"/>
          </p:nvPr>
        </p:nvSpPr>
        <p:spPr>
          <a:xfrm>
            <a:off x="838200" y="1690689"/>
            <a:ext cx="10515600" cy="4486274"/>
          </a:xfrm>
        </p:spPr>
        <p:txBody>
          <a:bodyPr>
            <a:normAutofit fontScale="70000" lnSpcReduction="20000"/>
          </a:bodyPr>
          <a:lstStyle/>
          <a:p>
            <a:pPr>
              <a:lnSpc>
                <a:spcPct val="170000"/>
              </a:lnSpc>
            </a:pPr>
            <a:r>
              <a:rPr lang="en-US" sz="2900" dirty="0">
                <a:latin typeface="Times New Roman" panose="02020603050405020304" pitchFamily="18" charset="0"/>
                <a:cs typeface="Times New Roman" panose="02020603050405020304" pitchFamily="18" charset="0"/>
              </a:rPr>
              <a:t>User needs the Search bar and filter category for searching flight, hotels and train tickets using price, category and duration.</a:t>
            </a:r>
          </a:p>
          <a:p>
            <a:pPr>
              <a:lnSpc>
                <a:spcPct val="170000"/>
              </a:lnSpc>
            </a:pPr>
            <a:r>
              <a:rPr lang="en-US" sz="2900" dirty="0">
                <a:latin typeface="Times New Roman" panose="02020603050405020304" pitchFamily="18" charset="0"/>
                <a:cs typeface="Times New Roman" panose="02020603050405020304" pitchFamily="18" charset="0"/>
              </a:rPr>
              <a:t>Finalizing the API for better performance, Frontend and Backend developers integrate with each other for better quality product.</a:t>
            </a:r>
          </a:p>
          <a:p>
            <a:pPr>
              <a:lnSpc>
                <a:spcPct val="170000"/>
              </a:lnSpc>
            </a:pPr>
            <a:r>
              <a:rPr lang="en-US" sz="2900" dirty="0">
                <a:latin typeface="Times New Roman" panose="02020603050405020304" pitchFamily="18" charset="0"/>
                <a:cs typeface="Times New Roman" panose="02020603050405020304" pitchFamily="18" charset="0"/>
              </a:rPr>
              <a:t>QA will check the software for quality issues if any and give feedback accordingly.</a:t>
            </a:r>
          </a:p>
          <a:p>
            <a:pPr>
              <a:lnSpc>
                <a:spcPct val="170000"/>
              </a:lnSpc>
            </a:pPr>
            <a:r>
              <a:rPr lang="en-US" sz="2900" dirty="0">
                <a:latin typeface="Times New Roman" panose="02020603050405020304" pitchFamily="18" charset="0"/>
                <a:cs typeface="Times New Roman" panose="02020603050405020304" pitchFamily="18" charset="0"/>
              </a:rPr>
              <a:t>We will develop a database to store booking details of customers.</a:t>
            </a:r>
          </a:p>
          <a:p>
            <a:pPr>
              <a:lnSpc>
                <a:spcPct val="170000"/>
              </a:lnSpc>
            </a:pPr>
            <a:r>
              <a:rPr lang="en-US" sz="2900" dirty="0">
                <a:latin typeface="Times New Roman" panose="02020603050405020304" pitchFamily="18" charset="0"/>
                <a:cs typeface="Times New Roman" panose="02020603050405020304" pitchFamily="18" charset="0"/>
              </a:rPr>
              <a:t>Frontend developer will design the interface to capture booking details (e.g., dates, destination, passenger info).</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22216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C638B-1A35-5A19-B217-EE380CC1B77C}"/>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Sprint 5-6: Building Payment Gateway and User profile</a:t>
            </a:r>
          </a:p>
        </p:txBody>
      </p:sp>
      <p:sp>
        <p:nvSpPr>
          <p:cNvPr id="3" name="Content Placeholder 2">
            <a:extLst>
              <a:ext uri="{FF2B5EF4-FFF2-40B4-BE49-F238E27FC236}">
                <a16:creationId xmlns:a16="http://schemas.microsoft.com/office/drawing/2014/main" id="{04460973-36F8-333E-3744-FBA1BCA618B7}"/>
              </a:ext>
            </a:extLst>
          </p:cNvPr>
          <p:cNvSpPr>
            <a:spLocks noGrp="1"/>
          </p:cNvSpPr>
          <p:nvPr>
            <p:ph idx="1"/>
          </p:nvPr>
        </p:nvSpPr>
        <p:spPr>
          <a:xfrm>
            <a:off x="266700" y="2038662"/>
            <a:ext cx="11544300" cy="4819337"/>
          </a:xfrm>
        </p:spPr>
        <p:txBody>
          <a:bodyPr>
            <a:normAutofit/>
          </a:bodyPr>
          <a:lstStyle/>
          <a:p>
            <a:pPr algn="just">
              <a:lnSpc>
                <a:spcPct val="150000"/>
              </a:lnSpc>
            </a:pPr>
            <a:r>
              <a:rPr lang="en-US" sz="2000" dirty="0">
                <a:latin typeface="Times New Roman" panose="02020603050405020304" pitchFamily="18" charset="0"/>
                <a:cs typeface="Times New Roman" panose="02020603050405020304" pitchFamily="18" charset="0"/>
              </a:rPr>
              <a:t>For secure transactions of bookings, we will integrate the software with payment gateways like </a:t>
            </a:r>
            <a:r>
              <a:rPr lang="en-US" sz="2000" dirty="0" err="1">
                <a:latin typeface="Times New Roman" panose="02020603050405020304" pitchFamily="18" charset="0"/>
                <a:cs typeface="Times New Roman" panose="02020603050405020304" pitchFamily="18" charset="0"/>
              </a:rPr>
              <a:t>Razorpay</a:t>
            </a:r>
            <a:r>
              <a:rPr lang="en-US" sz="2000" dirty="0">
                <a:latin typeface="Times New Roman" panose="02020603050405020304" pitchFamily="18" charset="0"/>
                <a:cs typeface="Times New Roman" panose="02020603050405020304" pitchFamily="18" charset="0"/>
              </a:rPr>
              <a:t>, or </a:t>
            </a:r>
            <a:r>
              <a:rPr lang="en-US" sz="2000" dirty="0" err="1">
                <a:latin typeface="Times New Roman" panose="02020603050405020304" pitchFamily="18" charset="0"/>
                <a:cs typeface="Times New Roman" panose="02020603050405020304" pitchFamily="18" charset="0"/>
              </a:rPr>
              <a:t>Billdesk</a:t>
            </a:r>
            <a:r>
              <a:rPr lang="en-US" sz="2000" dirty="0">
                <a:latin typeface="Times New Roman" panose="02020603050405020304" pitchFamily="18" charset="0"/>
                <a:cs typeface="Times New Roman" panose="02020603050405020304" pitchFamily="18" charset="0"/>
              </a:rPr>
              <a:t> to ensure the authenticity of the payments made through the platform.</a:t>
            </a:r>
          </a:p>
          <a:p>
            <a:pPr algn="just">
              <a:lnSpc>
                <a:spcPct val="150000"/>
              </a:lnSpc>
            </a:pPr>
            <a:r>
              <a:rPr lang="en-US" sz="2000" dirty="0">
                <a:latin typeface="Times New Roman" panose="02020603050405020304" pitchFamily="18" charset="0"/>
                <a:cs typeface="Times New Roman" panose="02020603050405020304" pitchFamily="18" charset="0"/>
              </a:rPr>
              <a:t>Backend team will manage the data processed in the booking and transaction process.</a:t>
            </a:r>
          </a:p>
          <a:p>
            <a:pPr algn="just">
              <a:lnSpc>
                <a:spcPct val="150000"/>
              </a:lnSpc>
            </a:pPr>
            <a:r>
              <a:rPr lang="en-US" sz="2000" dirty="0">
                <a:latin typeface="Times New Roman" panose="02020603050405020304" pitchFamily="18" charset="0"/>
                <a:cs typeface="Times New Roman" panose="02020603050405020304" pitchFamily="18" charset="0"/>
              </a:rPr>
              <a:t>For managing </a:t>
            </a:r>
            <a:r>
              <a:rPr lang="en-US" sz="2000" dirty="0" err="1">
                <a:latin typeface="Times New Roman" panose="02020603050405020304" pitchFamily="18" charset="0"/>
                <a:cs typeface="Times New Roman" panose="02020603050405020304" pitchFamily="18" charset="0"/>
              </a:rPr>
              <a:t>ll</a:t>
            </a:r>
            <a:r>
              <a:rPr lang="en-US" sz="2000" dirty="0">
                <a:latin typeface="Times New Roman" panose="02020603050405020304" pitchFamily="18" charset="0"/>
                <a:cs typeface="Times New Roman" panose="02020603050405020304" pitchFamily="18" charset="0"/>
              </a:rPr>
              <a:t> the bookings, developers make an User profile section which includes all booking and transaction history in one place.</a:t>
            </a:r>
          </a:p>
          <a:p>
            <a:pPr algn="just">
              <a:lnSpc>
                <a:spcPct val="150000"/>
              </a:lnSpc>
            </a:pPr>
            <a:r>
              <a:rPr lang="en-US" sz="2000" dirty="0">
                <a:latin typeface="Times New Roman" panose="02020603050405020304" pitchFamily="18" charset="0"/>
                <a:cs typeface="Times New Roman" panose="02020603050405020304" pitchFamily="18" charset="0"/>
              </a:rPr>
              <a:t>Also, it includes the feature to add, delete or cancel the bookings.</a:t>
            </a:r>
          </a:p>
        </p:txBody>
      </p:sp>
    </p:spTree>
    <p:extLst>
      <p:ext uri="{BB962C8B-B14F-4D97-AF65-F5344CB8AC3E}">
        <p14:creationId xmlns:p14="http://schemas.microsoft.com/office/powerpoint/2010/main" val="29141514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95E00-954E-BE91-0237-2CABDDE6EADD}"/>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Sprint 7-8: Testing, Deployment, and User Feedback</a:t>
            </a:r>
          </a:p>
        </p:txBody>
      </p:sp>
      <p:sp>
        <p:nvSpPr>
          <p:cNvPr id="3" name="Content Placeholder 2">
            <a:extLst>
              <a:ext uri="{FF2B5EF4-FFF2-40B4-BE49-F238E27FC236}">
                <a16:creationId xmlns:a16="http://schemas.microsoft.com/office/drawing/2014/main" id="{D660C3BD-B69F-E709-6B28-D560DE20ACEA}"/>
              </a:ext>
            </a:extLst>
          </p:cNvPr>
          <p:cNvSpPr>
            <a:spLocks noGrp="1"/>
          </p:cNvSpPr>
          <p:nvPr>
            <p:ph idx="1"/>
          </p:nvPr>
        </p:nvSpPr>
        <p:spPr>
          <a:xfrm>
            <a:off x="838200" y="2293495"/>
            <a:ext cx="10515600" cy="3883468"/>
          </a:xfrm>
        </p:spPr>
        <p:txBody>
          <a:bodyPr>
            <a:normAutofit/>
          </a:bodyPr>
          <a:lstStyle/>
          <a:p>
            <a:pPr algn="just">
              <a:lnSpc>
                <a:spcPct val="150000"/>
              </a:lnSpc>
            </a:pPr>
            <a:r>
              <a:rPr lang="en-US" sz="2000" dirty="0">
                <a:latin typeface="Times New Roman" panose="02020603050405020304" pitchFamily="18" charset="0"/>
                <a:cs typeface="Times New Roman" panose="02020603050405020304" pitchFamily="18" charset="0"/>
              </a:rPr>
              <a:t>The Final software is ready to deployed, before that there were final tests that need to be done by the Quality Analyst to ensure the software is error free.</a:t>
            </a:r>
          </a:p>
          <a:p>
            <a:pPr algn="just">
              <a:lnSpc>
                <a:spcPct val="150000"/>
              </a:lnSpc>
            </a:pPr>
            <a:r>
              <a:rPr lang="en-US" sz="2000" dirty="0">
                <a:latin typeface="Times New Roman" panose="02020603050405020304" pitchFamily="18" charset="0"/>
                <a:cs typeface="Times New Roman" panose="02020603050405020304" pitchFamily="18" charset="0"/>
              </a:rPr>
              <a:t>After testing done by QA, necessary feedback were taken and fixed by the developers.</a:t>
            </a:r>
          </a:p>
          <a:p>
            <a:pPr algn="just">
              <a:lnSpc>
                <a:spcPct val="150000"/>
              </a:lnSpc>
            </a:pPr>
            <a:r>
              <a:rPr lang="en-US" sz="2000" dirty="0">
                <a:latin typeface="Times New Roman" panose="02020603050405020304" pitchFamily="18" charset="0"/>
                <a:cs typeface="Times New Roman" panose="02020603050405020304" pitchFamily="18" charset="0"/>
              </a:rPr>
              <a:t>At last the Software is deployed into the market for feedback analysis.</a:t>
            </a:r>
          </a:p>
          <a:p>
            <a:pPr algn="just">
              <a:lnSpc>
                <a:spcPct val="150000"/>
              </a:lnSpc>
            </a:pPr>
            <a:r>
              <a:rPr lang="en-US" sz="2000" dirty="0">
                <a:latin typeface="Times New Roman" panose="02020603050405020304" pitchFamily="18" charset="0"/>
                <a:cs typeface="Times New Roman" panose="02020603050405020304" pitchFamily="18" charset="0"/>
              </a:rPr>
              <a:t>After getting feedbacks, it is published into the app stores for public use.</a:t>
            </a:r>
          </a:p>
        </p:txBody>
      </p:sp>
    </p:spTree>
    <p:extLst>
      <p:ext uri="{BB962C8B-B14F-4D97-AF65-F5344CB8AC3E}">
        <p14:creationId xmlns:p14="http://schemas.microsoft.com/office/powerpoint/2010/main" val="19548529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Da_14 Vaibhav Makheja PPT</Template>
  <TotalTime>20</TotalTime>
  <Words>868</Words>
  <Application>Microsoft Office PowerPoint</Application>
  <PresentationFormat>Widescreen</PresentationFormat>
  <Paragraphs>46</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Times New Roman</vt:lpstr>
      <vt:lpstr>Office Theme</vt:lpstr>
      <vt:lpstr>Vaibhav Makheja DA_14 BA Project Project Domain: Travel Booking System</vt:lpstr>
      <vt:lpstr>What is Business Analyst (BA)</vt:lpstr>
      <vt:lpstr>SDLC (Software Development Life Cycle)</vt:lpstr>
      <vt:lpstr>Sprints in Agile Project Management</vt:lpstr>
      <vt:lpstr>Project Explanation- Travel Booking System </vt:lpstr>
      <vt:lpstr>Sprint 1-2:  Initialization of Project Planning and Preparation of Module</vt:lpstr>
      <vt:lpstr>Sprint 3-4: Development Phase-II Begins </vt:lpstr>
      <vt:lpstr>Sprint 5-6: Building Payment Gateway and User profile</vt:lpstr>
      <vt:lpstr>Sprint 7-8: Testing, Deployment, and User Feedback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Vaibhav Makheja</dc:creator>
  <cp:lastModifiedBy>Vaibhav Makheja</cp:lastModifiedBy>
  <cp:revision>5</cp:revision>
  <dcterms:created xsi:type="dcterms:W3CDTF">2025-01-02T18:43:21Z</dcterms:created>
  <dcterms:modified xsi:type="dcterms:W3CDTF">2025-01-13T15:44:54Z</dcterms:modified>
</cp:coreProperties>
</file>